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438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Impact-AI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750" y="864840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PR Code Impact Analysis &amp; Risk Assessment</a:t>
            </a:r>
            <a:endParaRPr lang="en-US" sz="1500" dirty="0"/>
          </a:p>
        </p:txBody>
      </p:sp>
      <p:pic>
        <p:nvPicPr>
          <p:cNvPr id="4" name="Image 0" descr="/tmp/rasterized-gradient-28157e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727895"/>
            <a:ext cx="4095750" cy="13143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918395"/>
            <a:ext cx="378904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71500" y="2421285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Line-Level Precision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691705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method-level change detection using AST parsing</a:t>
            </a:r>
            <a:endParaRPr lang="en-US" sz="900" dirty="0"/>
          </a:p>
        </p:txBody>
      </p:sp>
      <p:pic>
        <p:nvPicPr>
          <p:cNvPr id="8" name="Image 1" descr="/tmp/rasterized-gradient-39073d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1727895"/>
            <a:ext cx="4095750" cy="13143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57750" y="1918395"/>
            <a:ext cx="378904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857750" y="2421285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857750" y="2691705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call graph with transitive impact analysis</a:t>
            </a:r>
            <a:endParaRPr lang="en-US" sz="900" dirty="0"/>
          </a:p>
        </p:txBody>
      </p:sp>
      <p:pic>
        <p:nvPicPr>
          <p:cNvPr id="12" name="Image 2" descr="/tmp/rasterized-gradient-6bb7df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232696"/>
            <a:ext cx="4095750" cy="13143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1500" y="3423196"/>
            <a:ext cx="378904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571500" y="3926086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Risk Scoring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71500" y="4196507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risk calculation with automated merge policies</a:t>
            </a:r>
            <a:endParaRPr lang="en-US" sz="900" dirty="0"/>
          </a:p>
        </p:txBody>
      </p:sp>
      <p:pic>
        <p:nvPicPr>
          <p:cNvPr id="16" name="Image 3" descr="/tmp/rasterized-gradient-be4400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3232696"/>
            <a:ext cx="4095750" cy="13143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57750" y="3423196"/>
            <a:ext cx="3789045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4857750" y="3926086"/>
            <a:ext cx="37890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Integration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857750" y="4196507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status checks &amp; branch protection enforcement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 • Spoon AST Parser • GitHub REST API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1353592"/>
            <a:ext cx="1030039" cy="876300"/>
          </a:xfrm>
          <a:prstGeom prst="roundRect">
            <a:avLst>
              <a:gd name="adj" fmla="val 8696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7286" y="1525042"/>
            <a:ext cx="817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7286" y="1791742"/>
            <a:ext cx="817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700" y="2287042"/>
            <a:ext cx="1050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Event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544389" y="173355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06339" y="1353592"/>
            <a:ext cx="1030039" cy="876300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12625" y="1525042"/>
            <a:ext cx="817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2625" y="1791742"/>
            <a:ext cx="817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96039" y="2287042"/>
            <a:ext cx="1050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Process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69729" y="173355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31679" y="1086892"/>
            <a:ext cx="961430" cy="1409700"/>
          </a:xfrm>
          <a:prstGeom prst="roundRect">
            <a:avLst>
              <a:gd name="adj" fmla="val 7926"/>
            </a:avLst>
          </a:prstGeom>
          <a:solidFill>
            <a:srgbClr val="1A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38651" y="1258342"/>
            <a:ext cx="747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Parser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38651" y="1791742"/>
            <a:ext cx="747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(Spoon AST)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2065" y="2553742"/>
            <a:ext cx="9806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Methods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526459" y="173355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8409" y="1353592"/>
            <a:ext cx="961430" cy="876300"/>
          </a:xfrm>
          <a:prstGeom prst="roundRect">
            <a:avLst>
              <a:gd name="adj" fmla="val 8696"/>
            </a:avLst>
          </a:prstGeom>
          <a:solidFill>
            <a:srgbClr val="F725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5380" y="1525042"/>
            <a:ext cx="747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95380" y="1791742"/>
            <a:ext cx="747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78794" y="2287042"/>
            <a:ext cx="9806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983188" y="173355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45138" y="1353592"/>
            <a:ext cx="961430" cy="876300"/>
          </a:xfrm>
          <a:prstGeom prst="roundRect">
            <a:avLst>
              <a:gd name="adj" fmla="val 8696"/>
            </a:avLst>
          </a:prstGeom>
          <a:solidFill>
            <a:srgbClr val="0A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52110" y="1525042"/>
            <a:ext cx="747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52110" y="1791742"/>
            <a:ext cx="747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35524" y="2287042"/>
            <a:ext cx="9806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Traversal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439918" y="173355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01868" y="1353592"/>
            <a:ext cx="961430" cy="876300"/>
          </a:xfrm>
          <a:prstGeom prst="roundRect">
            <a:avLst>
              <a:gd name="adj" fmla="val 8696"/>
            </a:avLst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08840" y="1525042"/>
            <a:ext cx="747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08840" y="1791742"/>
            <a:ext cx="747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92254" y="2287042"/>
            <a:ext cx="9806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2833688"/>
            <a:ext cx="8382000" cy="1171575"/>
          </a:xfrm>
          <a:prstGeom prst="roundRect">
            <a:avLst>
              <a:gd name="adj" fmla="val 650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00050" y="2833688"/>
            <a:ext cx="0" cy="1171575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550" y="3005138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590550" y="3300413"/>
            <a:ext cx="2590800" cy="533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Parser: Line-level detection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295650" y="3300413"/>
            <a:ext cx="2590800" cy="533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Graph: Call relationships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000750" y="3300413"/>
            <a:ext cx="2590800" cy="533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Service: GitHub integration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81000" y="4138613"/>
            <a:ext cx="8382000" cy="660946"/>
          </a:xfrm>
          <a:prstGeom prst="roundRect">
            <a:avLst>
              <a:gd name="adj" fmla="val 11529"/>
            </a:avLst>
          </a:prstGeom>
          <a:solidFill>
            <a:srgbClr val="0A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1490" y="4271963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Formula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1490" y="4479578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× DepthMult × AffectedNodes × Complexity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1000" y="47815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automated analysis with GitHub branch protection enforcement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723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Outcomes</a:t>
            </a:r>
            <a:endParaRPr lang="en-US" sz="3000" dirty="0"/>
          </a:p>
        </p:txBody>
      </p:sp>
      <p:pic>
        <p:nvPicPr>
          <p:cNvPr id="3" name="Image 0" descr="/tmp/rasterized-gradient-6b87a4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95350"/>
            <a:ext cx="4076700" cy="6351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1009650"/>
            <a:ext cx="3886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14350" y="1280071"/>
            <a:ext cx="3886200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 with AST parsing, graph traversal, and risk assessment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81000" y="1625798"/>
            <a:ext cx="4076700" cy="483840"/>
          </a:xfrm>
          <a:prstGeom prst="roundRect">
            <a:avLst>
              <a:gd name="adj" fmla="val 118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95288" y="1625798"/>
            <a:ext cx="0" cy="48384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4825" y="1721048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AST-Based Code Parsing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4825" y="1900089"/>
            <a:ext cx="3934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Spoon library extracts methods with line precision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2204889"/>
            <a:ext cx="4076700" cy="483840"/>
          </a:xfrm>
          <a:prstGeom prst="roundRect">
            <a:avLst>
              <a:gd name="adj" fmla="val 118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95288" y="2204889"/>
            <a:ext cx="0" cy="48384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825" y="2300139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Dependency Graph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4825" y="2479179"/>
            <a:ext cx="3934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graph maps method calls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1000" y="2783979"/>
            <a:ext cx="4076700" cy="483840"/>
          </a:xfrm>
          <a:prstGeom prst="roundRect">
            <a:avLst>
              <a:gd name="adj" fmla="val 118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395288" y="2783979"/>
            <a:ext cx="0" cy="48384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4825" y="2879229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Impact Analysis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4825" y="3058269"/>
            <a:ext cx="3934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traversal finds affected methods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81000" y="3363069"/>
            <a:ext cx="4076700" cy="483840"/>
          </a:xfrm>
          <a:prstGeom prst="roundRect">
            <a:avLst>
              <a:gd name="adj" fmla="val 1181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395288" y="3363069"/>
            <a:ext cx="0" cy="483840"/>
          </a:xfrm>
          <a:prstGeom prst="line">
            <a:avLst/>
          </a:prstGeom>
          <a:noFill/>
          <a:ln w="28575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4825" y="3458319"/>
            <a:ext cx="393477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Risk Scoring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4825" y="3637359"/>
            <a:ext cx="3934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Multi-factor calculation determines risk level</a:t>
            </a:r>
            <a:endParaRPr lang="en-US" sz="750" dirty="0"/>
          </a:p>
        </p:txBody>
      </p:sp>
      <p:pic>
        <p:nvPicPr>
          <p:cNvPr id="22" name="Image 1" descr="/tmp/rasterized-gradient-3d4fc6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895350"/>
            <a:ext cx="4076700" cy="63519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819650" y="1009650"/>
            <a:ext cx="3886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Outcomes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19650" y="1280071"/>
            <a:ext cx="3886200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825" dirty="0">
                <a:solidFill>
                  <a:srgbClr val="FFE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guardian preventing risky changes</a:t>
            </a:r>
            <a:endParaRPr lang="en-US" sz="825" dirty="0"/>
          </a:p>
        </p:txBody>
      </p:sp>
      <p:sp>
        <p:nvSpPr>
          <p:cNvPr id="25" name="Text 21"/>
          <p:cNvSpPr/>
          <p:nvPr/>
        </p:nvSpPr>
        <p:spPr>
          <a:xfrm>
            <a:off x="4686300" y="1625798"/>
            <a:ext cx="4076700" cy="1306711"/>
          </a:xfrm>
          <a:prstGeom prst="roundRect">
            <a:avLst>
              <a:gd name="adj" fmla="val 4374"/>
            </a:avLst>
          </a:prstGeom>
          <a:solidFill>
            <a:srgbClr val="0A25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81550" y="1759148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150"/>
              </a:spcAft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4781550" y="2098179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Analysis Coverage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4781550" y="2326779"/>
            <a:ext cx="38862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150"/>
              </a:spcAft>
              <a:buNone/>
            </a:pPr>
            <a:r>
              <a:rPr lang="en-US" sz="18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4781550" y="2665809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Assessment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4686300" y="3027759"/>
            <a:ext cx="4076700" cy="1312515"/>
          </a:xfrm>
          <a:prstGeom prst="roundRect">
            <a:avLst>
              <a:gd name="adj" fmla="val 435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781550" y="3123009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75"/>
              </a:spcAft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781550" y="3330625"/>
            <a:ext cx="3886200" cy="914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Prevents production incidents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Reduces code review time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spcAft>
                <a:spcPts val="15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Enforces merge governance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</Words>
  <Application>Microsoft Office PowerPoint</Application>
  <PresentationFormat>On-screen Show (16:9)</PresentationFormat>
  <Paragraphs>70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BHISLE</cp:lastModifiedBy>
  <cp:revision>2</cp:revision>
  <dcterms:created xsi:type="dcterms:W3CDTF">2025-11-21T18:46:13Z</dcterms:created>
  <dcterms:modified xsi:type="dcterms:W3CDTF">2025-11-21T18:54:53Z</dcterms:modified>
</cp:coreProperties>
</file>